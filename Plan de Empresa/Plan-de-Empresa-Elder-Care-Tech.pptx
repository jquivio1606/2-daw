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Prata" panose="020B0604020202020204" charset="0"/>
      <p:regular r:id="rId17"/>
    </p:embeddedFont>
    <p:embeddedFont>
      <p:font typeface="Raleway" pitchFamily="2" charset="0"/>
      <p:regular r:id="rId18"/>
      <p:bold r:id="rId19"/>
    </p:embeddedFont>
    <p:embeddedFont>
      <p:font typeface="Raleway Bold" pitchFamily="2" charset="0"/>
      <p:bold r:id="rId20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17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1648539"/>
            <a:ext cx="4919305" cy="49325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6397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Plan de Empresa: Elder Care Tech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397448"/>
            <a:ext cx="755642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Este plan de empresa detalla la creación de un asistente virtual con inteligencia artificial diseñado para interactuar con personas mayores, ofreciendo facilidad de uso y minijuegos que fomenten actividades diarias como pasear, beber agua o tomar la medicación. El asistente se conectará a una aplicación móvil, permitiendo la personalización de servicios y el seguimiento de estadísticas sanitarias por parte de familiares y cuidadores.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93790" y="6192917"/>
            <a:ext cx="497139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Realizado por Judit Quirós Violero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Idea de Empresa: Asistente Virtual para Mayores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31956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Innovación y Asistencia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Crear un asistente virtual con IA, fácil de usar, que motive a las personas mayores a realizar actividades y les recuerde tareas importantes.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37751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Conexión y Personalización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Conectar el asistente con una app móvil para personalizar servicios y permitir a familiares y cuidadores monitorear la salud del usuario.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Beneficios Sociales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Ayudar a las personas mayores a combatir la soledad, recordar tareas y entretenerse, mejorando su calidad de vida.</a:t>
            </a:r>
            <a:endParaRPr lang="en-US" sz="17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BC665D8-39AB-2FA6-DFFC-28DA5AF4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926" y="787598"/>
            <a:ext cx="7063621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Análisis del Macroentorno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7926" y="2071568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6461284" y="2155269"/>
            <a:ext cx="115610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993612" y="2071568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Tendencias Sociales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993612" y="2554367"/>
            <a:ext cx="2953226" cy="2858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82,6% de los hogares españoles tiene ordenador y el 85,4% de las personas entre 16 y 74 años usa Internet diariamente. Los asistentes virtuales son valorados para reducir la soledad en mayores.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0081" y="2071568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0318671" y="2155269"/>
            <a:ext cx="205264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0895767" y="2071568"/>
            <a:ext cx="288464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Factores Económicos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0895767" y="2554367"/>
            <a:ext cx="2953226" cy="2501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gasto en tecnología en España es significativo. La pensión media de jubilación es de 1.441,8 euros mensuales, lo que influye en la capacidad de gasto de nuestro público objetivo.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67926" y="5887283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415326" y="5970984"/>
            <a:ext cx="207645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993612" y="5887283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Marco Político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993612" y="6370082"/>
            <a:ext cx="6855262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Hay que tener en cuenta las leyes sobre IA, protección de datos, patentes y contratación de personas con discapacidad, ya que afectan directamente al negocio.</a:t>
            </a:r>
            <a:endParaRPr lang="en-US" sz="17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3C82361-A350-FE0F-4310-DFA1DFFF4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9755"/>
            <a:ext cx="70175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Análisis del Microentorno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48696"/>
            <a:ext cx="3664863" cy="3484364"/>
          </a:xfrm>
          <a:prstGeom prst="roundRect">
            <a:avLst>
              <a:gd name="adj" fmla="val 976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6507004" y="2175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Público Objetivo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665928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Personas mayores, pensionistas españoles que buscan compañía y ayuda para cuidar su salud, así como sus familiares y cuidadores.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1948696"/>
            <a:ext cx="3664863" cy="3484364"/>
          </a:xfrm>
          <a:prstGeom prst="roundRect">
            <a:avLst>
              <a:gd name="adj" fmla="val 976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0398681" y="2175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Competencia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2665928"/>
            <a:ext cx="321123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Asistentes virtuales generales como Alexa, Siri y Google Assistant, y dispositivos de teleasistencia. Nuestro valor añadido es la adaptación específica a las necesidades de los mayores.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9874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507004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Proveedores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377107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Empresas como Digi-Key, RS Components y Farnell España para componentes electrónicos, y Bitfab para impresión 3D.</a:t>
            </a:r>
            <a:endParaRPr lang="en-US" sz="17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DED56A6-CB3D-F799-DFD5-41C13B08D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7" y="924639"/>
            <a:ext cx="4962406" cy="63803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19825" y="909876"/>
            <a:ext cx="5238869" cy="65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Análisis DAFO</a:t>
            </a:r>
            <a:endParaRPr lang="en-US" sz="4100" dirty="0"/>
          </a:p>
        </p:txBody>
      </p:sp>
      <p:sp>
        <p:nvSpPr>
          <p:cNvPr id="5" name="Shape 1"/>
          <p:cNvSpPr/>
          <p:nvPr/>
        </p:nvSpPr>
        <p:spPr>
          <a:xfrm>
            <a:off x="6219825" y="1879044"/>
            <a:ext cx="7677150" cy="5440680"/>
          </a:xfrm>
          <a:prstGeom prst="roundRect">
            <a:avLst>
              <a:gd name="adj" fmla="val 57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2"/>
          <p:cNvSpPr/>
          <p:nvPr/>
        </p:nvSpPr>
        <p:spPr>
          <a:xfrm>
            <a:off x="6227445" y="1886664"/>
            <a:ext cx="7661910" cy="6019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6436995" y="2020014"/>
            <a:ext cx="340804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Fortalezas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0271760" y="2020014"/>
            <a:ext cx="340804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Oportunidades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6227445" y="2488644"/>
            <a:ext cx="7661910" cy="19431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6436995" y="2621994"/>
            <a:ext cx="340804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Enfoque específico en personas mayores y con necesidades especiales. Monitoreo de salud y conectividad con familiares. Flexibilidad de precios.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0271760" y="2621994"/>
            <a:ext cx="340804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Envejecimiento de la población y preocupación por la soledad. Fomento del gasto en tecnología. Apoyo de organizaciones sociales. Incentivos para contrataciones.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6227445" y="4431744"/>
            <a:ext cx="7661910" cy="6019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6436995" y="4565094"/>
            <a:ext cx="340804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Debilidades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0271760" y="4565094"/>
            <a:ext cx="340804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Amenazas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6227445" y="5033724"/>
            <a:ext cx="7661910" cy="22783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6436995" y="5167074"/>
            <a:ext cx="340804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inversión inicial. Falta de reconocimiento de marca. Requiere interfaz intuitiva. Dependencia de terceros para la distribución.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10271760" y="5167074"/>
            <a:ext cx="340804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Competencia de grandes tecnológicas. Cambios en regulaciones de IA y protección de datos. Resistencia de usuarios mayores a la tecnología. Productos sustitutivos.</a:t>
            </a:r>
            <a:endParaRPr lang="en-US" sz="16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E8B7927-097A-2A87-A310-8199D4FC6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474" y="587335"/>
            <a:ext cx="7649051" cy="133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Valores y Objetivos de la Empresa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74" y="2242542"/>
            <a:ext cx="1067872" cy="15721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35624" y="2456021"/>
            <a:ext cx="3375065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Legalidad y Cumplimiento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2135624" y="2917746"/>
            <a:ext cx="6260902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Operar de manera 100% legal, cumpliendo con todas las leyes, reglamentos y normas.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74" y="3814643"/>
            <a:ext cx="1067872" cy="19138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35624" y="4028123"/>
            <a:ext cx="2999661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Responsabilidad Social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2135624" y="4489847"/>
            <a:ext cx="6260902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Considerar el impacto en trabajadores, clientes y el medio ambiente, promoviendo prácticas ecofriendly y condiciones laborales dignas.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474" y="5728454"/>
            <a:ext cx="1067872" cy="19138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35624" y="5941933"/>
            <a:ext cx="3439835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Transparencia y Confianza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2135624" y="6403658"/>
            <a:ext cx="6260902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 transparentes para generar confianza en los clientes, ofreciendo productos de calidad a precios justos y brindando apoyo continuo.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0057" y="537210"/>
            <a:ext cx="7776686" cy="122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Plan de Marketing: Estrategias Clave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451640" y="2051090"/>
            <a:ext cx="22860" cy="5641896"/>
          </a:xfrm>
          <a:prstGeom prst="roundRect">
            <a:avLst>
              <a:gd name="adj" fmla="val 128185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6659940" y="2479000"/>
            <a:ext cx="683657" cy="22860"/>
          </a:xfrm>
          <a:prstGeom prst="roundRect">
            <a:avLst>
              <a:gd name="adj" fmla="val 128185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6243340" y="2270760"/>
            <a:ext cx="439460" cy="439460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412528" y="2343983"/>
            <a:ext cx="101084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37490" y="2246352"/>
            <a:ext cx="280725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Fuentes de Información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537490" y="2668667"/>
            <a:ext cx="6409253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Utilizar fuentes secundarias (informes, estudios) y primarias (observación y convivencia con personas mayores) para entender el mercado.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59940" y="4424720"/>
            <a:ext cx="683657" cy="22860"/>
          </a:xfrm>
          <a:prstGeom prst="roundRect">
            <a:avLst>
              <a:gd name="adj" fmla="val 128185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243340" y="4216479"/>
            <a:ext cx="439460" cy="439460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373237" y="4289703"/>
            <a:ext cx="179546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537490" y="4192072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Precio y Pago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537490" y="4614386"/>
            <a:ext cx="6409253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Ofrecer precios competitivos y variedad de opciones de pago: precio fijo de 500€ o suscripciones mensuales/anuales con funcionalidades adicionales.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59940" y="6370439"/>
            <a:ext cx="683657" cy="22860"/>
          </a:xfrm>
          <a:prstGeom prst="roundRect">
            <a:avLst>
              <a:gd name="adj" fmla="val 128185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243340" y="6162199"/>
            <a:ext cx="439460" cy="439460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6372165" y="6235422"/>
            <a:ext cx="181689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7537490" y="6137791"/>
            <a:ext cx="266128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Distribución y Alcance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37490" y="6560106"/>
            <a:ext cx="6409253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Implementar un sitio web propio con venta directa y envío a través de empresas de mensajería. Colaborar con redes de apoyo a mayores y centros de salud.</a:t>
            </a:r>
            <a:endParaRPr lang="en-US" sz="15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7A4FBAF-BAAB-0BB5-CE62-03E7D3D64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9331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Estrategias de Comunicación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Marketing Digital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785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Anuncios en redes sociales (Facebook, Instagram), blogs especializados, colaboraciones con influencers y anuncios en buscadores (SEM).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92140" y="4194453"/>
            <a:ext cx="9786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25893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Promociones Web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079790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Ofertas temporales y códigos de descuento para atraer a nuevos clientes.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53055" y="3243382"/>
            <a:ext cx="17371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4860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Campañas Directas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350907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Descuentos por lanzamiento, muestras gratuitas en eventos, demostraciones en residencias y centros de día.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6329" y="5969556"/>
            <a:ext cx="17573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2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31F01ED-2953-8AE8-86A6-53E3D4A3D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6616"/>
            <a:ext cx="7273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Infraestructura y Recursos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4555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339346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Local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829764"/>
            <a:ext cx="229195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en línea sin necesidad de local físico fijo. Espacio en el hogar para almacenaje. Coworking opcional en Barbate o Vejer.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04" y="254555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3339346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Maquinaria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3829764"/>
            <a:ext cx="2292072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Equipos informáticos para desarrollo de software. Herramientas para ensamblaje. Coste de producción del asistente virtual: 150-250€ por unidad.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538" y="254555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3339346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Transportes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3829764"/>
            <a:ext cx="22919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Distribución a través de empresas de mensajería como Seur, CTM y Correos.</a:t>
            </a:r>
            <a:endParaRPr lang="en-US" sz="17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03A0D89-AE4C-E79C-E048-755FE03E63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95983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Organización y Recursos Humanos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4151590"/>
            <a:ext cx="127026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Inicialmente, la empresa contará con un trabajador a jornada parcial (4 horas/día) con contrato indefinido y un salario de 600€ mensuales. El propietario también participará en el montaje durante picos de ventas. Tras el primer año, si la empresa va bien, se considerará la contratación de uno o dos empleados más a jornada completa.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96439"/>
            <a:ext cx="30480" cy="1599009"/>
          </a:xfrm>
          <a:prstGeom prst="rect">
            <a:avLst/>
          </a:prstGeom>
          <a:solidFill>
            <a:srgbClr val="EEE27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54291-B27E-952F-5C71-F71FB9FD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174" y="497443"/>
            <a:ext cx="4522827" cy="565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Plan financiero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904518" y="1628061"/>
            <a:ext cx="1309270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Este plan financiero detalla la inversión inicial, los costos de producción y la estrategia de precios. Se enfoca en un modelo de venta en línea, minimizando costos fijos y optimizando la distribución a través de mensajería.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3174" y="1424583"/>
            <a:ext cx="22860" cy="986076"/>
          </a:xfrm>
          <a:prstGeom prst="rect">
            <a:avLst/>
          </a:prstGeom>
          <a:solidFill>
            <a:srgbClr val="EEE27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4" y="2817614"/>
            <a:ext cx="3318034" cy="145101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084" y="3065026"/>
            <a:ext cx="3318034" cy="95607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0993" y="2952036"/>
            <a:ext cx="3318034" cy="118205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74" y="5505926"/>
            <a:ext cx="5153501" cy="41731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74" y="6126718"/>
            <a:ext cx="5153501" cy="834152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443" y="4879062"/>
            <a:ext cx="5153501" cy="270867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DE29388-D48F-7566-58E5-12D9152D92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737473"/>
            <a:ext cx="6649283" cy="64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Seguridad y Salud Laboral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7234" y="1802249"/>
            <a:ext cx="13175933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 garantizar un entorno de trabajo seguro en la fabricación, almacenamiento y distribución del asistente virtual, se aplicarán estas medidas de seguridad y salud laboral.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7234" y="2934533"/>
            <a:ext cx="467439" cy="46743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07137" y="3012400"/>
            <a:ext cx="10751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402437" y="2934533"/>
            <a:ext cx="27053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Ergonomía Adecuada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02437" y="3383756"/>
            <a:ext cx="5808940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Mesa de trabajo ajustable y sillas ergonómicas para evitar posturas forzadas.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19142" y="2934533"/>
            <a:ext cx="467439" cy="46743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557254" y="3012400"/>
            <a:ext cx="19109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8094345" y="2934533"/>
            <a:ext cx="398811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Manipulación Segura de Cargas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94345" y="3383756"/>
            <a:ext cx="5808940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Técnicas seguras de manipulación y uso de herramientas como carros para prevenir lesiones.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7234" y="4490085"/>
            <a:ext cx="467439" cy="46743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64275" y="4567952"/>
            <a:ext cx="19323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1402437" y="4490085"/>
            <a:ext cx="4953595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Precauciones con Equipos Electrónicos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02437" y="4939308"/>
            <a:ext cx="5808940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Desconectar dispositivos antes de ajustes y usar guantes antiestáticos. Almacenamiento organizado con control de temperatura y humedad.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19142" y="4490085"/>
            <a:ext cx="467439" cy="46743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561659" y="4567952"/>
            <a:ext cx="18228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8094345" y="4490085"/>
            <a:ext cx="2647950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Iluminación y Pausas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94345" y="4939308"/>
            <a:ext cx="5808940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Iluminación adecuada y pausas periódicas para evitar fatiga visual y estrés laboral.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7234" y="6378059"/>
            <a:ext cx="467439" cy="46743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66537" y="6455926"/>
            <a:ext cx="18883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1402437" y="6378059"/>
            <a:ext cx="3517940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Seguridad Contra Incendios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02437" y="6827282"/>
            <a:ext cx="5808940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Extintores accesibles, salidas de emergencia señalizadas y evitar sobrecargas eléctricas.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19142" y="6378059"/>
            <a:ext cx="467439" cy="467439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551658" y="6455926"/>
            <a:ext cx="20228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</a:t>
            </a:r>
            <a:endParaRPr lang="en-US" sz="2450" dirty="0"/>
          </a:p>
        </p:txBody>
      </p:sp>
      <p:sp>
        <p:nvSpPr>
          <p:cNvPr id="26" name="Text 24"/>
          <p:cNvSpPr/>
          <p:nvPr/>
        </p:nvSpPr>
        <p:spPr>
          <a:xfrm>
            <a:off x="8094345" y="6378059"/>
            <a:ext cx="3970020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Buenas Condiciones de Higiene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094345" y="6827282"/>
            <a:ext cx="5808940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Acceso a zonas de descanso, agua potable, formación en primeros auxilios y protocolos de emergencia.</a:t>
            </a:r>
            <a:endParaRPr lang="en-US" sz="16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6DCB8A17-00B5-A790-EB27-821F5F212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3969"/>
            <a:ext cx="72612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Forma Jurídica: Autónomo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637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 el inicio de la empresa, la mejor opción es establecerse como autónomo, ya que permite reducir costes iniciales y simplificar los trámites de constitución. Aunque tiene algunas desventajas como que no me proporciona seguridad frente a deudas, esta forma jurídica ofrece varias ventajas, como: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80234"/>
            <a:ext cx="751284" cy="7512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758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Inicio Sencillo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48751"/>
            <a:ext cx="30054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Menos burocracia y menores costes iniciales.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446" y="3780234"/>
            <a:ext cx="751403" cy="7514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39446" y="4758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Tarifa Plana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39446" y="5248870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reducida de Seguridad Social al principio.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221" y="3780234"/>
            <a:ext cx="751403" cy="7514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85221" y="4758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85221" y="5248870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sin socios ni capital social mínimo.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997" y="3780234"/>
            <a:ext cx="751403" cy="7514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30997" y="4758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Bonificaciones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830997" y="5248870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Incentivos por contratar empleados con discapacidad.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5927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 el negocio crece se podría considerar formar una SL  para reducir la carga fiscal y limitar la responsabilidad.</a:t>
            </a:r>
            <a:endParaRPr lang="en-US" sz="17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845412B-D0A1-1C65-4277-285518A043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0085" y="7772919"/>
            <a:ext cx="1810315" cy="4566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Valoración Final y Perspectivas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Este proyecto tiene un gran potencial tanto desde el punto de vista social como económico. Su enfoque innovador, combinado con una sólida planificación financiera y una clara identificación de las necesidades del mercado, lo coloca en una posición favorable para el éxito a largo plazo.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</Words>
  <Application>Microsoft Office PowerPoint</Application>
  <PresentationFormat>Personalizado</PresentationFormat>
  <Paragraphs>121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Prata</vt:lpstr>
      <vt:lpstr>Raleway Bold</vt:lpstr>
      <vt:lpstr>Raleway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Judit Quirós Violero</cp:lastModifiedBy>
  <cp:revision>2</cp:revision>
  <dcterms:created xsi:type="dcterms:W3CDTF">2025-02-18T11:27:00Z</dcterms:created>
  <dcterms:modified xsi:type="dcterms:W3CDTF">2025-02-18T11:30:54Z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b69475-382c-4c7a-b21d-8ca64eeef1bd_Enabled">
    <vt:lpwstr>true</vt:lpwstr>
  </property>
  <property fmtid="{D5CDD505-2E9C-101B-9397-08002B2CF9AE}" pid="3" name="MSIP_Label_ecb69475-382c-4c7a-b21d-8ca64eeef1bd_SetDate">
    <vt:lpwstr>2025-02-18T11:30:53Z</vt:lpwstr>
  </property>
  <property fmtid="{D5CDD505-2E9C-101B-9397-08002B2CF9AE}" pid="4" name="MSIP_Label_ecb69475-382c-4c7a-b21d-8ca64eeef1bd_Method">
    <vt:lpwstr>Standard</vt:lpwstr>
  </property>
  <property fmtid="{D5CDD505-2E9C-101B-9397-08002B2CF9AE}" pid="5" name="MSIP_Label_ecb69475-382c-4c7a-b21d-8ca64eeef1bd_Name">
    <vt:lpwstr>Eviden For Internal Use - All Employees</vt:lpwstr>
  </property>
  <property fmtid="{D5CDD505-2E9C-101B-9397-08002B2CF9AE}" pid="6" name="MSIP_Label_ecb69475-382c-4c7a-b21d-8ca64eeef1bd_SiteId">
    <vt:lpwstr>7d1c7785-2d8a-437d-b842-1ed5d8fbe00a</vt:lpwstr>
  </property>
  <property fmtid="{D5CDD505-2E9C-101B-9397-08002B2CF9AE}" pid="7" name="MSIP_Label_ecb69475-382c-4c7a-b21d-8ca64eeef1bd_ActionId">
    <vt:lpwstr>9f6784fc-9b3b-4a0a-b356-7fa85ac66d51</vt:lpwstr>
  </property>
  <property fmtid="{D5CDD505-2E9C-101B-9397-08002B2CF9AE}" pid="8" name="MSIP_Label_ecb69475-382c-4c7a-b21d-8ca64eeef1bd_ContentBits">
    <vt:lpwstr>0</vt:lpwstr>
  </property>
</Properties>
</file>